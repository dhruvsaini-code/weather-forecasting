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1 Synopsis Presentation. In strict compliance with guidelines, this presentation focuses on Problem Formulation, Data Auditing, and Exploratory Data Analysis. No forecasting models are executed in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time series fundamentals and Delhi climate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828800"/>
            <a:ext cx="109728" cy="2286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C3E6"/>
                </a:solidFill>
                <a:latin typeface="Calibri"/>
              </a:rPr>
              <a:t>TIME SERIES ANALYSIS &amp; FORECASTING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Exploratory Time-Series Analysis of Urban Weather Dynamics in Delhi (1996–2026)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CC3E6"/>
                </a:solidFill>
                <a:latin typeface="Calibri"/>
              </a:rPr>
              <a:t>Milestone 1: Synopsis Presentation (EDA &amp; Problem Formulation)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Team Members (Roll Nos.)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5"/>
                </a:solidFill>
                <a:latin typeface="Calibri"/>
              </a:rPr>
              <a:t>Instructor &amp; Guide: Course Instructor &amp; Project Evaluator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Time Series Analysis in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21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Temporal Ordering: Data points recorded sequentially across time where temporal dependency matters.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Four Components: Trend (long-term drift), Seasonality (periodic cycles), Cyclic variations, and Residual noise.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Component Decomposition: Decomposing temporal structure is required before any forecasting model is selected.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Cross-Domain Relevance: Essential in Energy load management, Climatology, Agriculture, and Public Health.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Phase 1 Objective: Understand empirical properties before model training in later phases.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13832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Why Delhi Weather Dynamics?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23951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Subtropical Continental Extremes: Delhi experiences severe summer heatwaves (&gt;45°C), monsoons, and winter cold snaps.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Urban Energy &amp; Grid Management: Extreme heat directly triggers summer peak electricity demand.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Hydrological &amp; Drainage Planning: Concentrated monsoon downpours demand evidence-based urban stormwater planning.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Over 30 Years of Observations: Longitudinal observations from 1 January 1996 to 18 March 2026.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Open Benchmark: Publicly accessible Kaggle dataset ensuring scientific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Problem Statement, Scope &amp;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74552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How do temperature, precipitation, and atmospheric variables in Delhi evolve across seasonal and multi-decadal horizons (1996–2026), and what empirical properties govern the choice of future forecasting models?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3657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Problem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3383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Pattern &amp; Seasonality Discovery (Phase 1)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Extreme event &amp; anomaly exploration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Temperature-rainfall association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Scoping models for Phases 2 &amp;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2651760"/>
            <a:ext cx="3657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7432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Target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108960"/>
            <a:ext cx="3383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Power utilities (grid peak load)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City disaster management authorities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Agronomy &amp; farming agencies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Public health advisory departments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651760"/>
            <a:ext cx="3657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74320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Decisions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108960"/>
            <a:ext cx="3383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Seasonal energy resource allocation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Heatwave early warning advisories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Municipal stormwater management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C"/>
                </a:solidFill>
                <a:latin typeface="Calibri"/>
              </a:rPr>
              <a:t>•  Selection of appropriate forecasting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Dataset Description &amp; Data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4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</a:tblGrid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Metadata Attribute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Data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Kaggle - sandeepgupta09 / Indian Weather Dataset 1996-2026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Access Link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kaggle.com/datasets/sandeepgupta09/indian-weather-dataset-1996-2026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License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CC0: Public Domain (verified on Kaggle page)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Temporal Period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Over 30 years: 1 January 1996 to 18 March 2026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Time Index &amp; Freq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'datetime' (Hourly, regular)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Data Volume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264,840 hourly rows → 11,035 daily points (≥500 required)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Calibri"/>
                        </a:rPr>
                        <a:t>Standard Time-Indexed CSV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234440"/>
          <a:ext cx="53035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Timestamp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Temp (°C)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Rain (mm)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Humidity (%)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01:00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11.3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83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02:00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03:00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10.6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04:00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05:00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9.8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91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1996-01-01 06:00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9.4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023360"/>
            <a:ext cx="533095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114800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Phase-1 Dataset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480560"/>
            <a:ext cx="5056632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B2A3C"/>
                </a:solidFill>
                <a:latin typeface="Calibri"/>
              </a:rPr>
              <a:t>•  ✓ Verified continuous timestamp column with regular hourly intervals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B2A3C"/>
                </a:solidFill>
                <a:latin typeface="Calibri"/>
              </a:rPr>
              <a:t>•  ✓ Volume: 11,035 daily observations (Exceeds ≥500 requirement)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B2A3C"/>
                </a:solidFill>
                <a:latin typeface="Calibri"/>
              </a:rPr>
              <a:t>•  ✓ Source repository and CC0 license verified on Kaggle page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B2A3C"/>
                </a:solidFill>
                <a:latin typeface="Calibri"/>
              </a:rPr>
              <a:t>•  ✓ Data dictionary and units documented (°C, mm, 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Data Quality &amp; Completeness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264,840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881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Hourly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128016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1353312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190881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Duplicate Timestamps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128016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353312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0.00%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90881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Timestamp Gaps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3" y="128016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3" y="1353312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3" y="190881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Temp Missing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28016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1353312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11,035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190881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Daily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28016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353312"/>
            <a:ext cx="1783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90881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Time Continuity</a:t>
            </a:r>
          </a:p>
        </p:txBody>
      </p:sp>
      <p:pic>
        <p:nvPicPr>
          <p:cNvPr id="25" name="Picture 24" descr="02_missing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892" y="2606040"/>
            <a:ext cx="9275167" cy="31546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57200" y="5852160"/>
            <a:ext cx="11274552" cy="502920"/>
          </a:xfrm>
          <a:prstGeom prst="roundRect">
            <a:avLst/>
          </a:prstGeom>
          <a:solidFill>
            <a:srgbClr val="D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Data Quality Finding: Exactly 264,840 hourly observations across 11,035 days with 0 duplicate timestamps and complete temporal continuity.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Trend &amp; Extreme Temperature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6 / 12</a:t>
            </a:r>
          </a:p>
        </p:txBody>
      </p:sp>
      <p:pic>
        <p:nvPicPr>
          <p:cNvPr id="7" name="Picture 6" descr="01_trend_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9841"/>
            <a:ext cx="7498079" cy="3463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1887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561A"/>
                </a:solidFill>
                <a:latin typeface="Calibri"/>
              </a:rPr>
              <a:t>Top 5 Hottest Days (Daily Max)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46720" y="1481328"/>
          <a:ext cx="3657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280160"/>
              </a:tblGrid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solidFill>
                      <a:srgbClr val="C056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C056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Recorded Value</a:t>
                      </a:r>
                    </a:p>
                  </a:txBody>
                  <a:tcPr anchor="ctr">
                    <a:solidFill>
                      <a:srgbClr val="C056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26 May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46.9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30 May 2024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46.2 °C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28 May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46.2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29 May 2024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46.1 °C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24 May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46.0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33375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Top 5 Coldest Days (Daily Min)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046720" y="3630168"/>
          <a:ext cx="3657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280160"/>
              </a:tblGrid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Recorded Value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31 Dec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1.3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06 Jan 2013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1.9 °C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01 Jan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1.9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28 Dec 2019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2.0 °C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30 Dec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2.2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669280"/>
            <a:ext cx="11274552" cy="502920"/>
          </a:xfrm>
          <a:prstGeom prst="roundRect">
            <a:avLst/>
          </a:prstGeom>
          <a:solidFill>
            <a:srgbClr val="D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6692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30-Day moving average is an exploratory visual smoothing aid only; no predictive modeling is executed in Milestone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Seasonality: Climatological Envelope &amp;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7 / 12</a:t>
            </a:r>
          </a:p>
        </p:txBody>
      </p:sp>
      <p:pic>
        <p:nvPicPr>
          <p:cNvPr id="7" name="Picture 6" descr="03_climate_finger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8262"/>
            <a:ext cx="5669280" cy="3515754"/>
          </a:xfrm>
          <a:prstGeom prst="rect">
            <a:avLst/>
          </a:prstGeom>
        </p:spPr>
      </p:pic>
      <p:pic>
        <p:nvPicPr>
          <p:cNvPr id="8" name="Picture 7" descr="04_thermal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564" y="1188720"/>
            <a:ext cx="5495111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760720"/>
            <a:ext cx="11274552" cy="502920"/>
          </a:xfrm>
          <a:prstGeom prst="roundRect">
            <a:avLst/>
          </a:prstGeom>
          <a:solidFill>
            <a:srgbClr val="D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Hottest Month: Jun (32.8°C) | Coldest Month: Jan (12.9°C) | Annual Thermal Swing: ~19.9°C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Time-Series Decomposition (LOESS-Based STL)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8 / 12</a:t>
            </a:r>
          </a:p>
        </p:txBody>
      </p:sp>
      <p:pic>
        <p:nvPicPr>
          <p:cNvPr id="7" name="Picture 6" descr="05_st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35941"/>
            <a:ext cx="7498079" cy="46719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28016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353312"/>
            <a:ext cx="3566160" cy="618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0.94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33956"/>
            <a:ext cx="3566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Seasonal Strength (Fs, 0–1)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60604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679192"/>
            <a:ext cx="3566160" cy="618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59836"/>
            <a:ext cx="3566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Trend Strength (Ft, 0–1)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93192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05072"/>
            <a:ext cx="3566160" cy="618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6B7785"/>
                </a:solidFill>
                <a:latin typeface="Calibri"/>
              </a:rPr>
              <a:t>1.79 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585716"/>
            <a:ext cx="3566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Residual Std. Deviation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25780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785"/>
                </a:solidFill>
                <a:latin typeface="Calibri"/>
              </a:rPr>
              <a:t>Decomposition Formula: Observed = Trend + Seasonal + Residual. The strong annual seasonal pattern motivates investigation of seasonal forecasting models in Phase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Seasonal Distributions &amp; Temperature–Precipitation Associations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9 / 12</a:t>
            </a:r>
          </a:p>
        </p:txBody>
      </p:sp>
      <p:pic>
        <p:nvPicPr>
          <p:cNvPr id="7" name="Picture 6" descr="06_seasonal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62895"/>
            <a:ext cx="4937760" cy="3640768"/>
          </a:xfrm>
          <a:prstGeom prst="rect">
            <a:avLst/>
          </a:prstGeom>
        </p:spPr>
      </p:pic>
      <p:pic>
        <p:nvPicPr>
          <p:cNvPr id="8" name="Picture 7" descr="07_temp_vs_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823561"/>
            <a:ext cx="6400800" cy="31194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69280"/>
            <a:ext cx="11274552" cy="502920"/>
          </a:xfrm>
          <a:prstGeom prst="roundRect">
            <a:avLst/>
          </a:prstGeom>
          <a:solidFill>
            <a:srgbClr val="D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6692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Monsoon Concentration: ~78% of rainfall occurs in Jun–Sep. Deseasonalized temp-rain correlation: ρ = -0.21.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Review of Existing Systems, Research Gap &amp;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10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7455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931920"/>
                <a:gridCol w="3867912"/>
              </a:tblGrid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Existing Approach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Key Limitations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Project Direction / Alignment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Numerical Weather Prediction (NWP)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Physical fluid dynamics; extreme compute; grid-scale 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Contextual benchmark; out of scope for time series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Classical Statistical (ARIMA / SARIMA)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Linear assumptions; difficulty capturing complex non-linearities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Phase 2 baseline models for seasonal forecasting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Holt-Winters Exponential Smoothing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Simple linear smoothing; limited multi-step horizon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Phase 2 baseline comparison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STL + Statistical Forecasting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Requires clean interpolation; purely additive or multiplicative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Phase 1 exploratory decomposition tool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Machine Learning (XGBoost on lags)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Requires extensive manual lag &amp; rolling feature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Phase 3 ensemble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Deep Learning (LSTM) &amp; Prophet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Heavier training compute; sensitive to sequence length tuning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latin typeface="Calibri"/>
                        </a:rPr>
                        <a:t>Phase 3 advanced non-linear comparison</a:t>
                      </a:r>
                    </a:p>
                  </a:txBody>
                  <a:tcPr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Project Technical Feasibility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17720"/>
            <a:ext cx="2697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690872"/>
            <a:ext cx="2697480" cy="6419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28C28"/>
                </a:solidFill>
                <a:latin typeface="Calibri"/>
              </a:rPr>
              <a:t>11,035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96662"/>
            <a:ext cx="2697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Daily Points (≥500 required)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617720"/>
            <a:ext cx="2697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4690872"/>
            <a:ext cx="2697480" cy="6419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Open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296662"/>
            <a:ext cx="2697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Public Kaggle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617720"/>
            <a:ext cx="2697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690872"/>
            <a:ext cx="2697480" cy="6419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Python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296662"/>
            <a:ext cx="2697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pandas · matplotlib · seaborn · statsmodels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617720"/>
            <a:ext cx="2770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690872"/>
            <a:ext cx="2770632" cy="6419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3-Phase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296662"/>
            <a:ext cx="2770632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EDA → Classical → ML/DL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Objectives &amp;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Project Objectives Across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21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O1: Perform dataset auditing, quality checks &amp; temporal validation (Phase 1 ✓)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O2: Quantify trend, annual seasonality, and distribution extremes (Phase 1 ✓)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O3: Formulate problem scope and confirm technical feasibility (Phase 1 ✓)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O4: Implement Classical Baselines: ARIMA, SARIMA, Holt-Winters (Phase 2)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O5: Develop ML/DL Models: XGBoost, LSTM, Facebook Prophet (Phase 3)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O6: Multi-metric benchmarking: RMSE, MAE, and MAPE (Phase 3)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O7: Translate forecasts into stakeholder decision frameworks (Phase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13832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Model Selection Justification (From Phase 1 EDA)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239512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Strong Yearly Seasonality (Fs = 0.94) → Motivates seasonal models (SARIMA, Holt-Winters)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Non-linear Multivariable Coupling → Motivates LSTM sequence models in Phase 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Skewed Precipitation Values → Motivates tree-based XGBoost on lag features in Phase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51960"/>
            <a:ext cx="551383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343400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Planned Evaluation Protocol (Upcoming Phases)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709160"/>
            <a:ext cx="5239512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B2A3C"/>
                </a:solidFill>
                <a:latin typeface="Calibri"/>
              </a:rPr>
              <a:t>•  Chronological Train / Validation / Test Split (Strictly no random shuffling)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B2A3C"/>
                </a:solidFill>
                <a:latin typeface="Calibri"/>
              </a:rPr>
              <a:t>•  Error Metrics: RMSE (penalizes extremes), MAE (linear scale), MAPE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B2A3C"/>
                </a:solidFill>
                <a:latin typeface="Calibri"/>
              </a:rPr>
              <a:t>•  Stationarity Diagnostics: ADF Stat = -10.60 (p &lt; 0.001), Lag-365 ACF = 0.89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B2A3C"/>
                </a:solidFill>
                <a:latin typeface="Calibri"/>
              </a:rPr>
              <a:t>•  Strict Compliance: No forecasting models are executed in Phase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Conclusion &amp; Academic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DELHI WEATHER ANALYTICS (1996–2026) | Milestone 1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Calibri"/>
              </a:rP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4023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Milestone 1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749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Curated 11,035 daily observations across 30 years (1996–2026).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Data quality audited: 0 duplicate timestamps, 100% temporal continuity.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Strong yearly seasonal pattern identified (Fs = 0.93).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Technical feasibility confirmed across data volume and Python tooling.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C"/>
                </a:solidFill>
                <a:latin typeface="Calibri"/>
              </a:rPr>
              <a:t>•  Next Steps: Phase 2 will execute stationarity tests and classical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80160"/>
            <a:ext cx="7040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37160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Academic &amp; Peer-Reviewed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37360"/>
            <a:ext cx="6766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Hyndman &amp; Athanasopoulos (2021). Forecasting: Principles and Practice (3rd ed.). OTexts.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Box, Jenkins, Reinsel &amp; Ljung (2015). Time Series Analysis: Forecasting and Control (5th ed.). Wiley.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Cleveland et al. (1990). STL: A Seasonal-Trend Decomposition Procedure. J. Off. Stat.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Taylor &amp; Letham (2018). Forecasting at Scale. The American Statistician.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Hochreiter &amp; Schmidhuber (1997). Long Short-Term Memory. Neural Computation.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Chen &amp; Guestrin (2016). XGBoost: A Scalable Tree Boosting System. ACM SIGKDD.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Bauer, Thorpe &amp; Brunet (2015). The quiet revolution of numerical weather prediction. Nature.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Rasp et al. (2020). WeatherBench: Benchmark for Data-Driven Weather Forecasting. JAMES.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C"/>
                </a:solidFill>
                <a:latin typeface="Calibri"/>
              </a:rPr>
              <a:t>•  Dataset: Kaggle - sandeepgupta09 / Indian Weather Dataset 1996-2026 (kaggle.com/datasets/sandeepgupta09/indian-weather-dataset-1996-2026)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06440"/>
            <a:ext cx="11274552" cy="502920"/>
          </a:xfrm>
          <a:prstGeom prst="roundRect">
            <a:avLst/>
          </a:prstGeom>
          <a:solidFill>
            <a:srgbClr val="D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NEXT STEPS (Phase 2): Implement data preprocessing, stationarity checks (ADF/KPSS), and classical ARIMA/SARIMA &amp; Holt-Winters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Time-Series Analysis of Urban Weather Dynamics in Delhi (1996–2026)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