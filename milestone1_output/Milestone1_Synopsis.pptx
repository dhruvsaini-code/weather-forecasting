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Milestone 1 Synopsis: Covers EDA, data quality, and problem definition. No forecasting models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time series components and why Delhi weather was chosen.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828800"/>
            <a:ext cx="109728" cy="228600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C3E6"/>
                </a:solidFill>
                <a:latin typeface="Calibri"/>
              </a:rPr>
              <a:t>TIME SERIES ANALYSIS &amp; 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Exploratory Time-Series Analysis of Urban Weather Dynamics in Delhi (1996–2026)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CC3E6"/>
                </a:solidFill>
                <a:latin typeface="Calibri"/>
              </a:rPr>
              <a:t>Milestone 1: Synopsis Presentation (EDA &amp; Problem Formulation)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Team Members (Roll Nos.)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C9D6E5"/>
                </a:solidFill>
                <a:latin typeface="Calibri"/>
              </a:rPr>
              <a:t>Instructor: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2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Time Series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Temporal Ordering: Data points recorded chronologically; order matters.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Four Components: Trend, Seasonality, Cyclic, and Irregular Residual.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Component Decomposition: Essential before choosing any forecasting model.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Applications: Energy consumption, environment, agriculture, and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Why Delhi Weather?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Severe Climate Extremes: Hot summers (&gt;45°C), monsoons, and cold winters.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Grid &amp; Planning Impact: Drives peak electricity load and municipal flood management.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30-Year Longitudinal Archive: 1996–2026 dataset provides repeated seasonal cycles.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Feasible &amp; Open: Public dataset ready for multi-phase exploration.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Problem Statement, Scope &amp;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3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74552" cy="118872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How do temperature and precipitation in Delhi evolve over 30 years across seasonal and trend components, and what empirical properties govern the choice of future forecasting models?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Problem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Pattern identification (Phase 1)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Extreme-event exploration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Temperature-rainfall relation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Future model scoping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Stakeholders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Power distribution utilities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City disaster planners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Agricultural planners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Public health agencies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Decisions Supported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Seasonal grid resource planning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Heatwave early advisories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Drainage scheduling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Forecasting model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Dataset Description &amp; Data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4 /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6692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97680"/>
              </a:tblGrid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Attribute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Detail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Kaggle - Indian Weather Dataset (1996–2026)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Coverage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01 Jan 1996 → 18 Mar 2026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Time 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'datetime' (Hourly)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Volume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264,840 raw → 11,035 daily points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Calibri"/>
                        </a:rPr>
                        <a:t>CSV (Time-indexed)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234440"/>
          <a:ext cx="53035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Timestamp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Temp (°C)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Rain (mm)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Humidity (%)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01:00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11.5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02:00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03:00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04:00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05:00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89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06:00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3931920"/>
            <a:ext cx="5330952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4023359"/>
            <a:ext cx="5056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Dataset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389120"/>
            <a:ext cx="5056632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✓ Proper time column present and regular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✓ 11,035 daily observations (≥500 required)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✓ Source and variable dictionary documented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✓ Numeric types validated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 Quality &amp; Completeness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5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103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21031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264,840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881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Raw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280160"/>
            <a:ext cx="2103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353312"/>
            <a:ext cx="21031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0881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Duplicates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280160"/>
            <a:ext cx="2103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353312"/>
            <a:ext cx="21031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0881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Temp Missing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280160"/>
            <a:ext cx="2103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1353312"/>
            <a:ext cx="21031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11,035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0881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Daily Points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280160"/>
            <a:ext cx="2103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1353312"/>
            <a:ext cx="21031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90881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Continuity</a:t>
            </a:r>
          </a:p>
        </p:txBody>
      </p:sp>
      <p:pic>
        <p:nvPicPr>
          <p:cNvPr id="22" name="Picture 21" descr="02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119" y="2606039"/>
            <a:ext cx="9076712" cy="31546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57200" y="585216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&gt;99.7% data completeness across 30 years. Short gaps will be interpolated in Phase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Trend &amp; Extreme Temperature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6 / 11</a:t>
            </a:r>
          </a:p>
        </p:txBody>
      </p:sp>
      <p:pic>
        <p:nvPicPr>
          <p:cNvPr id="7" name="Picture 6" descr="01_trend_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6052"/>
            <a:ext cx="7498079" cy="3451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561A"/>
                </a:solidFill>
                <a:latin typeface="Calibri"/>
              </a:rPr>
              <a:t>Top 5 Hottest Days (Max Temp)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46720" y="148132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26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46.8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28 May 1998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46.2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29 May 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46.1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27 May 1998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46.0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 May 2002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45.9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333756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Calibri"/>
              </a:rPr>
              <a:t>Top 5 Coldest Days (Min Temp)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46720" y="363016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31 Dec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2.0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06 Jan 2013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2.2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 Jan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2.3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 Jan 2023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2.4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 Jan 2023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2.4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30-Day moving average is an exploratory smoothing aid only; no prediction is performed.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Seasonality: Climatological Envelope &amp;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7 / 11</a:t>
            </a:r>
          </a:p>
        </p:txBody>
      </p:sp>
      <p:pic>
        <p:nvPicPr>
          <p:cNvPr id="7" name="Picture 6" descr="03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8262"/>
            <a:ext cx="5669280" cy="3515754"/>
          </a:xfrm>
          <a:prstGeom prst="rect">
            <a:avLst/>
          </a:prstGeom>
        </p:spPr>
      </p:pic>
      <p:pic>
        <p:nvPicPr>
          <p:cNvPr id="8" name="Picture 7" descr="04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845" y="1188720"/>
            <a:ext cx="5660549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76072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Hottest Month: Jun (32.8°C) | Coldest Month: Jan (13.1°C) | Annual Swing: ~19.8°C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Time-Series Decomposition (STL)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8 / 11</a:t>
            </a:r>
          </a:p>
        </p:txBody>
      </p:sp>
      <p:pic>
        <p:nvPicPr>
          <p:cNvPr id="7" name="Picture 6" descr="05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7375"/>
            <a:ext cx="7498079" cy="466904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128016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35331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93395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Seasonal Strength (Fs)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60604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67919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25983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Trend Strength (Ft)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785"/>
                </a:solidFill>
                <a:latin typeface="Calibri"/>
              </a:rPr>
              <a:t>Observed = Trend + Seasonal + Residual. High seasonal strength (Fs &gt; 0.85) indicates that seasonal terms (e.g., SARIMA, Holt-Winters) are required for later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 Distributions &amp; Temperature–Rain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9 / 11</a:t>
            </a:r>
          </a:p>
        </p:txBody>
      </p:sp>
      <p:pic>
        <p:nvPicPr>
          <p:cNvPr id="7" name="Picture 6" descr="0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2895"/>
            <a:ext cx="4937760" cy="3640768"/>
          </a:xfrm>
          <a:prstGeom prst="rect">
            <a:avLst/>
          </a:prstGeom>
        </p:spPr>
      </p:pic>
      <p:pic>
        <p:nvPicPr>
          <p:cNvPr id="8" name="Picture 7" descr="07_temp_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823561"/>
            <a:ext cx="6400800" cy="3119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Monsoon Concentration: ~79% of rain falls in Jun–Sep. Deseasonalized temp-rain ρ = -0.21.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Project Objectives &amp; 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10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Calibri"/>
              </a:rPr>
              <a:t>Milestone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O1: Quality audit and continuous time index verification (Phase 1 ✓)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O2: Quantify trend, annual seasonality, and extreme days (Phase 1 ✓)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O3: Formulate scope and establish project feasibility (Phase 1 ✓)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O4: Classical Baselines: ARIMA, SARIMA, Holt-Winters (Phase 2)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O5: ML/DL Comparison: XGBoost, LSTM, Facebook Prophet (Phase 3)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O6: Multi-metric benchmarking: RMSE, MAE, MAPE (Phase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Calibri"/>
              </a:rPr>
              <a:t>Model Selection Justification (From EDA)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Strong Yearly Seasonality (Fs = 0.93) → Motivates SARIMA &amp; Holt-Winters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Non-linear Multivariable Coupling → Motivates LSTM Networks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Skewed Precipitation Values → Motivates Tree-based XGBoost with lag features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Evaluation Design: Chronological train/test split (no shuffling) using RMSE, MAE, MAPE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Strict Rule: No forecasting models are executed in Milestone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Conclusion &amp; Key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11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4114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  <a:latin typeface="Calibri"/>
              </a:rPr>
              <a:t>Milestone 1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840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11,035 daily observations across 30 years ready for analysis.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Data quality audited (&gt;99.7% completeness).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Seasonal envelope and repeating annual cycle confirmed.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Feasible direction defined for classical and ML modeling.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B2A3C"/>
                </a:solidFill>
                <a:latin typeface="Calibri"/>
              </a:rPr>
              <a:t>•  No forecasting executed in Phase 1 (strictly compliant).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280160"/>
            <a:ext cx="6858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371600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Academic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737360"/>
            <a:ext cx="6583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Hyndman &amp; Athanasopoulos (2021). Forecasting: Principles and Practice (3rd ed.). OTexts.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Box, Jenkins, Reinsel &amp; Ljung (2015). Time Series Analysis: Forecasting and Control (5th ed.). Wiley.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Cleveland et al. (1990). STL: A Seasonal-Trend Decomposition Procedure. J. Off. Stat.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Taylor &amp; Letham (2018). Forecasting at Scale. The American Statistician.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Hochreiter &amp; Schmidhuber (1997). Long Short-Term Memory. Neural Computation.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Chen &amp; Guestrin (2016). XGBoost: A Scalable Tree Boosting System. ACM SIGKDD.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Rasp et al. (2020). WeatherBench: Benchmark for Data-Driven Weather Forecasting. JAMES.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Dataset: Kaggle - Indian Weather Dataset (1996–2026) (kaggle.com/datasets/sandeepgupta09/indian-weather-dataset-1996-2026)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Next Steps (Phase 2): Differencing, stationarity tests, and classical ARIMA/SARIMA &amp; Holt-Winters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Time-Series Analysis of Urban Weather Dynamics in Delhi (1996–2026)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