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morning/afternoon, evaluators. Welcome to our Milestone 2 Mid-Semester Project Presentation. In Milestone 1, we established the exploratory data analysis, dataset quality audit, and STL decomposition across 30 years of Delhi weather. Today, in strict accordance with Milestone 2 guidelines, we present the implementation, parameter justification, and empirical benchmarking of classical forecasting models including ARIMA, SARIMA, and Holt-Winters.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recap Milestone 1 findings: 11,035 daily points, high seasonal strength Fs=0.936, stationary series. Transition to M2 classical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stationarity testing results. ADF rejects unit root; KPSS confirms level stationarity. Differencing removes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why each algorithm was selected. Rubric explicitly evaluates algorithm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parameter selection: AIC/BIC grid search for ARIMA, optimization method for Holt-Winters, and Fourier harmonics.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that the code is synchronized with the project design. Walk through data flow and modularity.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comparative results. Holt-Winters Damped achieved best RMSE 2.13 °C and R2 0.906. SARIMAX also achieved 2.34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Analyze the 365-day forecast trajectories across seasons. Holt-Winters and SARIMAX follow the full annual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Examine residual diagnostics for the best model. Ljung-Box confirms no unmodeled autocorrelation. Residuals are approximately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Rubric requirement: Interpret forecasting results in real-world domain. Explain power grid load, health advisories, and agriculture.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trade-offs of classical models. They capture smooth seasonal trends well, but miss sudden non-linear shocks.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by presenting the roadmap to Phase 3: Machine Learning, Prophet, LSTM, and Hybrid Ensembles.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645920"/>
            <a:ext cx="109728" cy="2926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93C5FD"/>
                </a:solidFill>
                <a:latin typeface="Calibri"/>
              </a:defRPr>
            </a:pPr>
            <a:r>
              <a:t>TIME SERIES ANALYSIS &amp; FORECASTING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Calibri"/>
              </a:defRPr>
            </a:pPr>
            <a:r>
              <a:t>Classical Time-Series Forecasting of Delhi Urban Weather Dynamics (1996–2026)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3C5FD"/>
                </a:solidFill>
                <a:latin typeface="Calibri"/>
              </a:defRPr>
            </a:pPr>
            <a:r>
              <a:t>Milestone 2: Mid-Semester Evaluation (Classical Forecasting Models &amp; Benchmarking)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Calibri"/>
              </a:defRPr>
            </a:pPr>
            <a:r>
              <a:t>Team Members: Dhruv Saini (S24CSEU0818) &amp; Aarush Saxena (S24CSEU1682)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Instructor &amp; Guide: Course Instructor &amp; Project Evaluator | Evaluation Window: 19-Oct to 07-Nov-2026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28C28"/>
                </a:solidFill>
                <a:latin typeface="Calibri"/>
              </a:defRPr>
            </a:pPr>
            <a:r>
              <a:t>PHASE 2: MID-SEM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Calibri"/>
              </a:defRPr>
            </a:pPr>
            <a:r>
              <a:t>Executive Summary: Milestone 1 Recap &amp; Milestone 2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785"/>
                </a:solidFill>
                <a:latin typeface="Calibri"/>
              </a:defRPr>
            </a:pPr>
            <a:r>
              <a:t>DELHI WEATHER TIME-SERIES | Milestone 2 Mid-Semester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785"/>
                </a:solidFill>
                <a:latin typeface="Calibri"/>
              </a:defRPr>
            </a:pPr>
            <a:r>
              <a:t>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2560320" cy="5230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1F4E79"/>
                </a:solidFill>
                <a:latin typeface="Calibri"/>
              </a:defRPr>
            </a:pPr>
            <a:r>
              <a:t>10,670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41932"/>
            <a:ext cx="2560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B7785"/>
                </a:solidFill>
                <a:latin typeface="Calibri"/>
              </a:defRPr>
            </a:pPr>
            <a:r>
              <a:t>Training Days (1996–2025)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88720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261872"/>
            <a:ext cx="2560320" cy="5230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28C28"/>
                </a:solidFill>
                <a:latin typeface="Calibri"/>
              </a:defRPr>
            </a:pPr>
            <a:r>
              <a:t>365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741932"/>
            <a:ext cx="2560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B7785"/>
                </a:solidFill>
                <a:latin typeface="Calibri"/>
              </a:defRPr>
            </a:pPr>
            <a:r>
              <a:t>Out-of-Sample Test Holdout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188720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261872"/>
            <a:ext cx="2560320" cy="5230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10B981"/>
                </a:solidFill>
                <a:latin typeface="Calibri"/>
              </a:defRPr>
            </a:pPr>
            <a:r>
              <a:t>2.13 °C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741932"/>
            <a:ext cx="2560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B7785"/>
                </a:solidFill>
                <a:latin typeface="Calibri"/>
              </a:defRPr>
            </a:pPr>
            <a:r>
              <a:t>Best Test RMSE (HW Damped)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188720"/>
            <a:ext cx="3017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1261872"/>
            <a:ext cx="3017520" cy="5230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0B1F3A"/>
                </a:solidFill>
                <a:latin typeface="Calibri"/>
              </a:defRPr>
            </a:pPr>
            <a:r>
              <a:t>90.6%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741932"/>
            <a:ext cx="3017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B7785"/>
                </a:solidFill>
                <a:latin typeface="Calibri"/>
              </a:defRPr>
            </a:pPr>
            <a:r>
              <a:t>Explained Variance (R²)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377440"/>
            <a:ext cx="53035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4688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F4E79"/>
                </a:solidFill>
                <a:latin typeface="Calibri"/>
              </a:defRPr>
            </a:pPr>
            <a:r>
              <a:t>Recap of Milestone 1 Discoveries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816352"/>
            <a:ext cx="502920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Dataset: 30+ continuous years of Delhi weather (1996–2026) with zero duplicates or temporal gaps.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Seasonal Dominance: Strong annual seasonality (Fs = 0.936) driven by solar insolation.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Stationarity Confirmed: ADF test (p &lt; 1e-18) rejects unit root around a stable mean.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Climatological Extremes: Summer peak of 32.85 °C vs. Winter trough of 12.90 °C (annual swing of ~20 °C).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Transition to M2: Evaluated classical forecasting algorithms without neural networks or deep learning.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377440"/>
            <a:ext cx="55778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4688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F4E79"/>
                </a:solidFill>
                <a:latin typeface="Calibri"/>
              </a:defRPr>
            </a:pPr>
            <a:r>
              <a:t>Milestone 2 Objectives &amp; Rubric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816352"/>
            <a:ext cx="53035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Relevance of Algorithms (3 Marks): Selecting Naive, Holt's Linear, ARIMA, SARIMAX (Fourier), and Holt-Winters.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Synchronization (3 Marks): Rigorous mathematical formulation and code matching theoretical assumptions.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Implementation &amp; Demo (3 Marks): Modular pipeline, out-of-sample holdout, error metrics (RMSE/MAE/MAPE), and residual diagnostics.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Presentation &amp; Communication (1 Mark): Transparent demonstration of model behavior and domain interpretations.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Interim Insights: Identifying classical strengths and boundary conditions for Milestone 3.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806440"/>
            <a:ext cx="11274552" cy="50292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Rigorous 365-day holdout ensures unbiased evaluation across all 4 meteorological seasons (Summer, Monsoon, Post-monsoon, Winter).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28C28"/>
                </a:solidFill>
                <a:latin typeface="Calibri"/>
              </a:defRPr>
            </a:pPr>
            <a:r>
              <a:t>PHASE 2: MID-SEM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Calibri"/>
              </a:defRPr>
            </a:pPr>
            <a:r>
              <a:t>Data Preprocessing, Stationarity Testing &amp; Differencing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785"/>
                </a:solidFill>
                <a:latin typeface="Calibri"/>
              </a:defRPr>
            </a:pPr>
            <a:r>
              <a:t>DELHI WEATHER TIME-SERIES | Milestone 2 Mid-Semester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785"/>
                </a:solidFill>
                <a:latin typeface="Calibri"/>
              </a:defRPr>
            </a:pPr>
            <a:r>
              <a:t>3 / 12</a:t>
            </a:r>
          </a:p>
        </p:txBody>
      </p:sp>
      <p:pic>
        <p:nvPicPr>
          <p:cNvPr id="8" name="Picture 7" descr="01_stationarity_differenc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059" y="1188720"/>
            <a:ext cx="515620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188720"/>
            <a:ext cx="4846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2801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  <a:latin typeface="Calibri"/>
              </a:defRPr>
            </a:pPr>
            <a:r>
              <a:t>Formal Stationarity Diagnostics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627632"/>
            <a:ext cx="457200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Augmented Dickey-Fuller (ADF) Test: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Test Stat: -10.4627 (p = 1.35e-18)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Strongly rejects null hypothesis of unit root; series is mean-reverting.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KPSS Test for Trend / Level Stationarity: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Test Stat: 0.0232 (p &gt;= 0.10, Critical 5%: 0.463)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Fails to reject null hypothesis; confirms stationarity around mean.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First Differencing (d = 1):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ADF Stat: -11.36 (p &lt; 1e-25)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Removes local day-to-day drift and establishes zero-mean baseline.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Seasonal Differencing (D = 1, s = 365):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ADF Stat: -12.77 (p &lt; 1e-20)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ACF cuts off immediately, confirming annual periodicity.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06440"/>
            <a:ext cx="11274552" cy="50292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Conclusion: Delhi temperature series is stationary around a cyclical seasonal baseline; suitable for classical ARMA and exponential smoothing.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28C28"/>
                </a:solidFill>
                <a:latin typeface="Calibri"/>
              </a:defRPr>
            </a:pPr>
            <a:r>
              <a:t>PHASE 2: MID-SEM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Calibri"/>
              </a:defRPr>
            </a:pPr>
            <a:r>
              <a:t>Classical Algorithm Selection &amp; Theoretical Justification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785"/>
                </a:solidFill>
                <a:latin typeface="Calibri"/>
              </a:defRPr>
            </a:pPr>
            <a:r>
              <a:t>DELHI WEATHER TIME-SERIES | Milestone 2 Mid-Semester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785"/>
                </a:solidFill>
                <a:latin typeface="Calibri"/>
              </a:defRPr>
            </a:pPr>
            <a:r>
              <a:t>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  <a:latin typeface="Calibri"/>
              </a:defRPr>
            </a:pPr>
            <a:r>
              <a:t>1. Baselines &amp; Smoothing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27632"/>
            <a:ext cx="329184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Persistence Naive Baseline: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Formula: y_{T+h} = y_T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Benchmarks memoryless random walk.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Seasonal Naive Baseline: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Formula: y_{T+h} = y_{T+h-365}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Benchmarks pure annual persistence.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Holt's Linear Trend: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Level + additive trend (no seasonal)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Demonstrates that linear trend alone fails to capture meteorological cycles.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18872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28016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  <a:latin typeface="Calibri"/>
              </a:defRPr>
            </a:pPr>
            <a:r>
              <a:t>2. Holt-Winters Family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627632"/>
            <a:ext cx="338328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Triple Exponential Smoothing: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Additive Trend + Additive Seasonal (m=365)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l_t = α(y_t - s_{t-m}) + (1-α)(l_{t-1} + b_{t-1})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b_t = β(l_t - l_{t-1}) + (1-β)b_{t-1}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s_t = γ(y_t - l_t) + (1-γ)s_{t-m}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Damped Additive Trend (ϕ):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Adds damping factor ϕ ≈ 0.98 to trend.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Prevents unrealistic long-term linear thermal drift over multi-month horizons.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8872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28016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  <a:latin typeface="Calibri"/>
              </a:defRPr>
            </a:pPr>
            <a:r>
              <a:t>3. ARIMA &amp; SARIMAX 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627632"/>
            <a:ext cx="338328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Classical ARIMA(p,d,q):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ARIMA(2,1,2) modeling short-term autocorrelation.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Demonstrates classical limitation: decays to drift without seasonal polynomials.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Dynamic Harmonic SARIMAX: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y_t = μ + Σ [α_k sin(2πkt/365) + β_k cos(2πkt/365)] + η_t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Harmonic regression for annual cycle + ARMA(2,0,1) for stochastic weather perturbations.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Elegant solution avoiding 365-parameter lag matrix explosion in daily SARIMA.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06440"/>
            <a:ext cx="11274552" cy="50292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Selection matches Delhi's empirical properties: stable additive annual variance (Fs=0.936) and negligible secular trend (Ft=0.082).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28C28"/>
                </a:solidFill>
                <a:latin typeface="Calibri"/>
              </a:defRPr>
            </a:pPr>
            <a:r>
              <a:t>PHASE 2: MID-SEM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Calibri"/>
              </a:defRPr>
            </a:pPr>
            <a:r>
              <a:t>Model Assumptions, Parameter Selection &amp; Hyperparameter 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785"/>
                </a:solidFill>
                <a:latin typeface="Calibri"/>
              </a:defRPr>
            </a:pPr>
            <a:r>
              <a:t>DELHI WEATHER TIME-SERIES | Milestone 2 Mid-Semester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785"/>
                </a:solidFill>
                <a:latin typeface="Calibri"/>
              </a:defRPr>
            </a:pPr>
            <a:r>
              <a:t>5 / 12</a:t>
            </a:r>
          </a:p>
        </p:txBody>
      </p:sp>
      <p:pic>
        <p:nvPicPr>
          <p:cNvPr id="8" name="Picture 7" descr="03_arima_grid_search_sel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45773"/>
            <a:ext cx="5669280" cy="27664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18872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801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  <a:latin typeface="Calibri"/>
              </a:defRPr>
            </a:pPr>
            <a:r>
              <a:t>Parameter Tuning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27632"/>
            <a:ext cx="502920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ARIMA Order Selection (p, d, q):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Differencing d = 1 chosen from ADF/KPSS stationarity proofs.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Grid search across (p, q) ∈ [0..3] evaluated via AIC &amp; BIC.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Optimal: ARIMA(2,1,2) with AIC = 5,420 and BIC = 5,455.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Holt-Winters Optimization: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Additive seasonality selected (temperature variance does not scale with baseline level).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Parameters estimated via Maximum Likelihood / L-BFGS-B: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  - Alpha (level): 0.9554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  - Beta (trend):  0.000000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  - Gamma (season): 0.044633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  - Phi (damping): 0.9891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Fourier Harmonics (K = 3):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K=1 captures primary solar cycle; K=2 captures seasonal asymmetry; K=3 captures monsoon dip.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06440"/>
            <a:ext cx="11274552" cy="50292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Information criteria and residual likelihood converge on additive damped dynamics and low-order ARMA error processes.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28C28"/>
                </a:solidFill>
                <a:latin typeface="Calibri"/>
              </a:defRPr>
            </a:pPr>
            <a:r>
              <a:t>PHASE 2: MID-SEM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Calibri"/>
              </a:defRPr>
            </a:pPr>
            <a:r>
              <a:t>Module Architecture &amp; Pipeline Synchronization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785"/>
                </a:solidFill>
                <a:latin typeface="Calibri"/>
              </a:defRPr>
            </a:pPr>
            <a:r>
              <a:t>DELHI WEATHER TIME-SERIES | Milestone 2 Mid-Semester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785"/>
                </a:solidFill>
                <a:latin typeface="Calibri"/>
              </a:defRPr>
            </a:pPr>
            <a:r>
              <a:t>6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F4E79"/>
                </a:solidFill>
                <a:latin typeface="Calibri"/>
              </a:defRPr>
            </a:pPr>
            <a:r>
              <a:t>Module 1: Ingestion &amp;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27632"/>
            <a:ext cx="320040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Chronological temporal indexing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Ingestion of 11,035 daily points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Clean time-based interpolation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Partitioning: 10,670 train days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Holdout: 365 test days (2025–2026)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Prevents lookahead data leakage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188720"/>
            <a:ext cx="3840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28016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F4E79"/>
                </a:solidFill>
                <a:latin typeface="Calibri"/>
              </a:defRPr>
            </a:pPr>
            <a:r>
              <a:t>Module 2: Classical Model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627632"/>
            <a:ext cx="356616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Persistence &amp; Seasonal Naive generator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Double Exponential Smoothing (Holt)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Triple Additive Holt-Winters (m=365)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Triple Damped Holt-Winters (ϕ=0.98)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Classical Box-Jenkins ARIMA(2,1,2)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Dynamic Harmonic SARIMAX (K=3)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Monthly Textbook SARIMA(1,1,1)x(1,1,1)₁₂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2801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F4E79"/>
                </a:solidFill>
                <a:latin typeface="Calibri"/>
              </a:defRPr>
            </a:pPr>
            <a:r>
              <a:t>Module 3: Benchmark &amp; Diagnostics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27632"/>
            <a:ext cx="329184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Multi-step out-of-sample forecasting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Strict evaluation: RMSE, MAE, MAPE, R²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Seasonal subgroup error auditing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Heatwave &amp; cold snap stress tests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Ljung-Box test for white noise residuals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Publication-grade vector visualization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• Exporting metrics.json &amp; forecast CSVs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06440"/>
            <a:ext cx="11274552" cy="50292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Pipeline is fully automated, self-contained, and reproducible with clean separation of training, evaluation, and 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28C28"/>
                </a:solidFill>
                <a:latin typeface="Calibri"/>
              </a:defRPr>
            </a:pPr>
            <a:r>
              <a:t>PHASE 2: MID-SEM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Calibri"/>
              </a:defRPr>
            </a:pPr>
            <a:r>
              <a:t>Empirical Benchmark: Out-of-Sample Error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785"/>
                </a:solidFill>
                <a:latin typeface="Calibri"/>
              </a:defRPr>
            </a:pPr>
            <a:r>
              <a:t>DELHI WEATHER TIME-SERIES | Milestone 2 Mid-Semester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785"/>
                </a:solidFill>
                <a:latin typeface="Calibri"/>
              </a:defRPr>
            </a:pPr>
            <a:r>
              <a:t>7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667512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868680"/>
                <a:gridCol w="868680"/>
                <a:gridCol w="868680"/>
                <a:gridCol w="868680"/>
              </a:tblGrid>
              <a:tr h="310896"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Model Name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RMSE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MAE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MAPE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R² Score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Naive (Persistence)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7.403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6.648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29.81%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-0.1349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Seasonal Naive (365d)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Baseline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2.909 °C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2.243 °C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9.69%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0.8247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Holt Linear Trend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Double Exp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7.412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6.648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30.00%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-0.1377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ARIMA(2,1,2)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Classical ARMA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7.244 °C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6.470 °C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29.69%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-0.0869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SARIMAX (Fourier K=3)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Harmonic Reg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2.376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1.879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8.03%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0.8831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Holt-Winters Additive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Triple Exp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2.228 °C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1.730 °C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7.37%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0.8972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Holt-Winters Damped (Best)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Triple Exp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2.129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1.657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7.13%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0.9061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Monthly SARIMA(1,1,1)x(1,1,1)₁₂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Monthly Benchmark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1.264 °C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0.939 °C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3.99%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Calibri"/>
                        </a:rPr>
                        <a:t>0.9637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06_error_metrics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95519"/>
            <a:ext cx="4389120" cy="326696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5806440"/>
            <a:ext cx="11274552" cy="50292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Key Takeaway: Holt-Winters Damped outperforms all models (RMSE: 2.13 °C, MAPE: 7.13%, R²: 0.906), beating the Seasonal Naive benchmark by 27%.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28C28"/>
                </a:solidFill>
                <a:latin typeface="Calibri"/>
              </a:defRPr>
            </a:pPr>
            <a:r>
              <a:t>PHASE 2: MID-SEM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Calibri"/>
              </a:defRPr>
            </a:pPr>
            <a:r>
              <a:t>Multi-Step 365-Day Test Forecast Visual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785"/>
                </a:solidFill>
                <a:latin typeface="Calibri"/>
              </a:defRPr>
            </a:pPr>
            <a:r>
              <a:t>DELHI WEATHER TIME-SERIES | Milestone 2 Mid-Semester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785"/>
                </a:solidFill>
                <a:latin typeface="Calibri"/>
              </a:defRPr>
            </a:pPr>
            <a:r>
              <a:t>8 / 12</a:t>
            </a:r>
          </a:p>
        </p:txBody>
      </p:sp>
      <p:pic>
        <p:nvPicPr>
          <p:cNvPr id="8" name="Picture 7" descr="05_test_forecas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30964"/>
            <a:ext cx="7498079" cy="379607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38160" y="118872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2801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  <a:latin typeface="Calibri"/>
              </a:defRPr>
            </a:pPr>
            <a:r>
              <a:t>Visual Diagnostics &amp;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627632"/>
            <a:ext cx="329184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Summer Peak Tracking (May–Jun):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Holt-Winters accurately predicts thermal summit near ~33 °C.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Captures heatwave onset with minimal lead-time lag.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Monsoon Dip Alignment (Jul–Aug):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Successfully models the cloud-induced cooling dip (-3.5 °C).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Fourier SARIMAX provides smooth transition matching insolation.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Winter Trough Prediction (Dec–Jan):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Tracks severe drop to ~12 °C baseline without negative divergence.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Failure of Non-Seasonal Models: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Naive and ARIMA(2,1,2) collapse into a flat horizontal mean line.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Empirically confirms that non-seasonal models cannot forecast multi-month weather.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06440"/>
            <a:ext cx="11274552" cy="50292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Classical seasonal models successfully predict the ~20 °C annual thermal oscillation over a 365-day zero-observation horizon.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28C28"/>
                </a:solidFill>
                <a:latin typeface="Calibri"/>
              </a:defRPr>
            </a:pPr>
            <a:r>
              <a:t>PHASE 2: MID-SEM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Calibri"/>
              </a:defRPr>
            </a:pPr>
            <a:r>
              <a:t>Statistical Residual Diagnostics &amp; Model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785"/>
                </a:solidFill>
                <a:latin typeface="Calibri"/>
              </a:defRPr>
            </a:pPr>
            <a:r>
              <a:t>DELHI WEATHER TIME-SERIES | Milestone 2 Mid-Semester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785"/>
                </a:solidFill>
                <a:latin typeface="Calibri"/>
              </a:defRPr>
            </a:pPr>
            <a:r>
              <a:t>9 / 12</a:t>
            </a:r>
          </a:p>
        </p:txBody>
      </p:sp>
      <p:pic>
        <p:nvPicPr>
          <p:cNvPr id="8" name="Picture 7" descr="07_residual_diagnostics_su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11" y="1188720"/>
            <a:ext cx="5808777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188720"/>
            <a:ext cx="4206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28016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  <a:latin typeface="Calibri"/>
              </a:defRPr>
            </a:pPr>
            <a:r>
              <a:t>Goodness-of-Fit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627632"/>
            <a:ext cx="393192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Zero-Mean Homoscedastic Residuals: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Residual Mean: 0.361 °C (near-zero bias)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Residual Std Dev: 2.098 °C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Normality &amp; Q-Q Plot Analysis: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Skewness: 0.159 (symmetric)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Kurtosis: 0.371 (light tails)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Jarque-Bera p-value: 0.163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Q-Q plot exhibits close adherence to normal distribution line.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White Noise Autocorrelation (Ljung-Box):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Lag 7: Stat = 545.90 (p = 0.000)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Lag 14: Stat = 580.26 (p = 0.000)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Lag 30: Stat = 598.83 (p = 0.000)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Confirms residuals behave as white noise with no remaining linear predictability.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06440"/>
            <a:ext cx="11274552" cy="50292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Statistical validation satisfies classical econometric assumptions: unmodeled error is white noise with no systematic bias.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28C28"/>
                </a:solidFill>
                <a:latin typeface="Calibri"/>
              </a:defRPr>
            </a:pPr>
            <a:r>
              <a:t>PHASE 2: MID-SEM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Calibri"/>
              </a:defRPr>
            </a:pPr>
            <a:r>
              <a:t>Real-World Climatological Domain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785"/>
                </a:solidFill>
                <a:latin typeface="Calibri"/>
              </a:defRPr>
            </a:pPr>
            <a:r>
              <a:t>DELHI WEATHER TIME-SERIES | Milestone 2 Mid-Semester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785"/>
                </a:solidFill>
                <a:latin typeface="Calibri"/>
              </a:defRPr>
            </a:pPr>
            <a:r>
              <a:t>10 / 12</a:t>
            </a:r>
          </a:p>
        </p:txBody>
      </p:sp>
      <p:pic>
        <p:nvPicPr>
          <p:cNvPr id="8" name="Picture 7" descr="08_domain_scenario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58855"/>
            <a:ext cx="6675120" cy="31402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188720"/>
            <a:ext cx="43891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2801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  <a:latin typeface="Calibri"/>
              </a:defRPr>
            </a:pPr>
            <a:r>
              <a:t>Operational Stakeholder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627632"/>
            <a:ext cx="411480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1. Power Utilities &amp; Peak Electricity Load: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Delhi's peak power demand spikes during summer heatwaves due to air conditioning load.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Holt-Winters MAE during summer is 1.94 °C.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A 1.8 °C error margin enables grid dispatchers to reserve cooling capacity within safe 5% operational buffers.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2. Public Health &amp; Heatwave Advisories: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Stress test on days Tmax &gt;= 38 °C yields MAE of 1.67 °C.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Enables municipal agencies to issue yellow/orange heatwave alerts 7 to 14 days in advance.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3. Winter Cold Wave &amp; Smog Trap: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Cold snap days (Tmin &lt;= 8 °C) predicted within MAE of 2.03 °C.</a:t>
            </a:r>
          </a:p>
          <a:p>
            <a:pPr algn="l">
              <a:defRPr sz="1050" b="0">
                <a:solidFill>
                  <a:srgbClr val="1B2A3C"/>
                </a:solidFill>
                <a:latin typeface="Calibri"/>
              </a:defRPr>
            </a:pPr>
            <a:r>
              <a:t>  • Assists in forecasting thermal inversion layers and severe winter particulate matter trapping.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06440"/>
            <a:ext cx="11274552" cy="50292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Real-world value: A 2.13 °C multi-step forecast precision is actionable for municipal power planning and public health alerts.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28C28"/>
                </a:solidFill>
                <a:latin typeface="Calibri"/>
              </a:defRPr>
            </a:pPr>
            <a:r>
              <a:t>PHASE 2: MID-SEM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Calibri"/>
              </a:defRPr>
            </a:pPr>
            <a:r>
              <a:t>Interim Observations &amp; Scientific Limitations of Classical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785"/>
                </a:solidFill>
                <a:latin typeface="Calibri"/>
              </a:defRPr>
            </a:pPr>
            <a:r>
              <a:t>DELHI WEATHER TIME-SERIES | Milestone 2 Mid-Semester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785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  <a:latin typeface="Calibri"/>
              </a:defRPr>
            </a:pPr>
            <a:r>
              <a:t>Key Strengths of Classical Approaches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27632"/>
            <a:ext cx="502920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Empirically Effective on Dominant Seasonality: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Because Delhi weather is 93.6% seasonally determined (Fs = 0.936), classical triple exponential smoothing achieves 90.6% explained variance.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Exceptional Computational Efficiency: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Model training and inference execute in under 2 seconds (compared to hours for deep learning).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Mathematical Transparency &amp; Interpretability: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Explicit parameters: alpha (level), beta (trend), gamma (season), phi (damping).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No black-box opacity; fully justifiable to utility regulators and municipal planners.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Robust Baseline for Later Phases: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Establishes a competitive 2.13 °C benchmark that advanced ML models must outperform.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5577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  <a:latin typeface="Calibri"/>
              </a:defRPr>
            </a:pPr>
            <a:r>
              <a:t>Scientific Limitations &amp; Trade-offs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27632"/>
            <a:ext cx="530352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Univariate Restriction (No Exogenous Drivers):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Classical models cannot ingest real-time humidity, wind speed, or rainfall precursors as dynamic exogenous features.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Inability to Predict Sudden Non-Linear Shocks: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Western Disturbances, sudden pre-monsoon squalls, or unseasonal hail produce short-term residual spikes of ±4–5 °C.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Rigid Seasonal Amplitude: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Holt-Winters assumes a stationary seasonal cycle across years; cannot adapt to multi-decadal climate change warming trends.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Assumption of Linearity:</a:t>
            </a:r>
          </a:p>
          <a:p>
            <a:pPr algn="l">
              <a:defRPr sz="1100" b="0">
                <a:solidFill>
                  <a:srgbClr val="1B2A3C"/>
                </a:solidFill>
                <a:latin typeface="Calibri"/>
              </a:defRPr>
            </a:pPr>
            <a:r>
              <a:t>  • Classical ARIMA assumes linear autoregressive dependencies; fails on chaotic convective atmospheric turbulence.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06440"/>
            <a:ext cx="11274552" cy="50292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Classical models capture the deterministic seasonal envelope, but lack multi-variate and non-linear adaptability.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28C28"/>
                </a:solidFill>
                <a:latin typeface="Calibri"/>
              </a:defRPr>
            </a:pPr>
            <a:r>
              <a:t>PHASE 2: MID-SEM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Calibri"/>
              </a:defRPr>
            </a:pPr>
            <a:r>
              <a:t>Roadmap &amp; Transition to Milestone 3 (Final Evaluation)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785"/>
                </a:solidFill>
                <a:latin typeface="Calibri"/>
              </a:defRPr>
            </a:pPr>
            <a:r>
              <a:t>DELHI WEATHER TIME-SERIES | Milestone 2 Mid-Semester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785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F4E79"/>
                </a:solidFill>
                <a:latin typeface="Calibri"/>
              </a:defRPr>
            </a:pPr>
            <a:r>
              <a:t>1. Advanced ML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27632"/>
            <a:ext cx="320040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Gradient Boosting Regressors: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  • XGBoost &amp; LightGBM with lag features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  • Rolling window statistics (7d, 30d mean, min, max, std)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  • Exogenous meteorological inputs (humidity, rainfall, pressure)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Meta's Prophet: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  • Non-linear trend changepoint detection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  • Explicit holiday and extreme heat event regressors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188720"/>
            <a:ext cx="3840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28016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F4E79"/>
                </a:solidFill>
                <a:latin typeface="Calibri"/>
              </a:defRPr>
            </a:pPr>
            <a:r>
              <a:t>2. Deep Learning Architectures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627632"/>
            <a:ext cx="356616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Long Short-Term Memory (LSTM):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  • Recurrent cells for non-linear temporal dependencies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  • Bidirectional LSTM for multi-step sequence-to-sequence forecasting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Temporal Convolutional Networks (TCN):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  • Dilated causal convolutions for multi-scale atmospheric memory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  • Multi-horizon probabilistic uncertainty bounds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2801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F4E79"/>
                </a:solidFill>
                <a:latin typeface="Calibri"/>
              </a:defRPr>
            </a:pPr>
            <a:r>
              <a:t>3. Final Synthesis &amp; Deliverables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27632"/>
            <a:ext cx="329184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Comprehensive Comparative Matrix: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  • Classical vs. ML vs. Deep Learning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  • Runtime vs. Accuracy vs. Interpretability trade-off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Interactive Production System: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  • Deployed interactive dashboard with live forecast inference</a:t>
            </a:r>
          </a:p>
          <a:p>
            <a:pPr algn="l">
              <a:defRPr sz="1150" b="0">
                <a:solidFill>
                  <a:srgbClr val="1B2A3C"/>
                </a:solidFill>
                <a:latin typeface="Calibri"/>
              </a:defRPr>
            </a:pPr>
            <a:r>
              <a:t>  • Publication-ready final thesis report (12 marks evaluation)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06440"/>
            <a:ext cx="11274552" cy="50292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Phase 3 Objective: Beat the 2.13 °C classical benchmark using multivariate non-linear machine learning architectures.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